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009E8A"/>
                </a:solidFill>
                <a:latin typeface="Segoe UI"/>
              </a:rPr>
              <a:t>FP MAppleLab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"/>
              </a:rPr>
              <a:t>Leveraging Apple Silicon for On-Demand
macOS Access Across Forcepoint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8A939B"/>
                </a:solidFill>
                <a:latin typeface="Segoe UI"/>
              </a:rPr>
              <a:t>A Corporate Private Cloud for Native macOS Virtual Machines
Repurposed Hardware  |  BSL 1.1 Licensed  |  One-Time Production License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303520"/>
            <a:ext cx="7315200" cy="19050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8A939B"/>
                </a:solidFill>
                <a:latin typeface="Segoe UI"/>
              </a:rPr>
              <a:t>Presented to Forcepoint Leadership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Challenge: macOS Access Is Fragmented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Teams need macOS daily — but access is inconsistent and limited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38912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5A623"/>
                </a:solidFill>
                <a:latin typeface="Segoe UI"/>
              </a:rPr>
              <a:t>Today's Situation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48256"/>
            <a:ext cx="201168" cy="201168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D252C"/>
                </a:solidFill>
                <a:latin typeface="Segoe UI"/>
              </a:rPr>
              <a:t>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011680"/>
            <a:ext cx="44622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2F4F5"/>
                </a:solidFill>
                <a:latin typeface="Segoe UI"/>
              </a:rPr>
              <a:t>Only some team members have corporate Macs — access is role-dependent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523744"/>
            <a:ext cx="201168" cy="201168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05456"/>
            <a:ext cx="20116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D252C"/>
                </a:solidFill>
                <a:latin typeface="Segoe UI"/>
              </a:rPr>
              <a:t>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487168"/>
            <a:ext cx="44622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2F4F5"/>
                </a:solidFill>
                <a:latin typeface="Segoe UI"/>
              </a:rPr>
              <a:t>Go4Labs Hackintosh VMs are limited, unstable, and lack native performance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999232"/>
            <a:ext cx="201168" cy="201168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980944"/>
            <a:ext cx="20116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D252C"/>
                </a:solidFill>
                <a:latin typeface="Segoe UI"/>
              </a:rPr>
              <a:t>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962656"/>
            <a:ext cx="44622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2F4F5"/>
                </a:solidFill>
                <a:latin typeface="Segoe UI"/>
              </a:rPr>
              <a:t>Physical Mac pool is scarce — often one device shared per team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474720"/>
            <a:ext cx="201168" cy="201168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456432"/>
            <a:ext cx="20116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D252C"/>
                </a:solidFill>
                <a:latin typeface="Segoe UI"/>
              </a:rPr>
              <a:t>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438144"/>
            <a:ext cx="44622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2F4F5"/>
                </a:solidFill>
                <a:latin typeface="Segoe UI"/>
              </a:rPr>
              <a:t>No self-service provisioning — requests go through manual processes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950208"/>
            <a:ext cx="201168" cy="201168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931920"/>
            <a:ext cx="20116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D252C"/>
                </a:solidFill>
                <a:latin typeface="Segoe UI"/>
              </a:rPr>
              <a:t>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913632"/>
            <a:ext cx="44622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2F4F5"/>
                </a:solidFill>
                <a:latin typeface="Segoe UI"/>
              </a:rPr>
              <a:t>No persistent environments — work lost between sessions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371600"/>
            <a:ext cx="5303520" cy="438912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09E8A"/>
                </a:solidFill>
                <a:latin typeface="Segoe UI"/>
              </a:rPr>
              <a:t>Who Needs macOS Access?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048256"/>
            <a:ext cx="201168" cy="201168"/>
          </a:xfrm>
          <a:prstGeom prst="ellipse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029968"/>
            <a:ext cx="20116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D252C"/>
                </a:solidFill>
                <a:latin typeface="Segoe U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2011680"/>
            <a:ext cx="44622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2F4F5"/>
                </a:solidFill>
                <a:latin typeface="Segoe UI"/>
              </a:rPr>
              <a:t>Technical Support — reproducing Mac-specific issues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2523744"/>
            <a:ext cx="201168" cy="201168"/>
          </a:xfrm>
          <a:prstGeom prst="ellipse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505456"/>
            <a:ext cx="20116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D252C"/>
                </a:solidFill>
                <a:latin typeface="Segoe U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2487168"/>
            <a:ext cx="44622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2F4F5"/>
                </a:solidFill>
                <a:latin typeface="Segoe UI"/>
              </a:rPr>
              <a:t>Professional Services — client environment replication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2999232"/>
            <a:ext cx="201168" cy="201168"/>
          </a:xfrm>
          <a:prstGeom prst="ellipse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2980944"/>
            <a:ext cx="20116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D252C"/>
                </a:solidFill>
                <a:latin typeface="Segoe UI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2962656"/>
            <a:ext cx="44622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2F4F5"/>
                </a:solidFill>
                <a:latin typeface="Segoe UI"/>
              </a:rPr>
              <a:t>Pre-Sales &amp; SE — live demos on native macOS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3474720"/>
            <a:ext cx="201168" cy="201168"/>
          </a:xfrm>
          <a:prstGeom prst="ellipse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456432"/>
            <a:ext cx="20116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D252C"/>
                </a:solidFill>
                <a:latin typeface="Segoe UI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3438144"/>
            <a:ext cx="44622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2F4F5"/>
                </a:solidFill>
                <a:latin typeface="Segoe UI"/>
              </a:rPr>
              <a:t>QA Engineering — cross-platform test coverage</a:t>
            </a:r>
          </a:p>
        </p:txBody>
      </p:sp>
      <p:sp>
        <p:nvSpPr>
          <p:cNvPr id="37" name="Oval 36"/>
          <p:cNvSpPr/>
          <p:nvPr/>
        </p:nvSpPr>
        <p:spPr>
          <a:xfrm>
            <a:off x="6492240" y="3950208"/>
            <a:ext cx="201168" cy="201168"/>
          </a:xfrm>
          <a:prstGeom prst="ellipse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3931920"/>
            <a:ext cx="20116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D252C"/>
                </a:solidFill>
                <a:latin typeface="Segoe U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3913632"/>
            <a:ext cx="44622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2F4F5"/>
                </a:solidFill>
                <a:latin typeface="Segoe UI"/>
              </a:rPr>
              <a:t>Development — build and debug macOS agents</a:t>
            </a:r>
          </a:p>
        </p:txBody>
      </p:sp>
      <p:sp>
        <p:nvSpPr>
          <p:cNvPr id="40" name="Oval 39"/>
          <p:cNvSpPr/>
          <p:nvPr/>
        </p:nvSpPr>
        <p:spPr>
          <a:xfrm>
            <a:off x="6492240" y="4425696"/>
            <a:ext cx="201168" cy="201168"/>
          </a:xfrm>
          <a:prstGeom prst="ellipse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4407408"/>
            <a:ext cx="201168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1D252C"/>
                </a:solidFill>
                <a:latin typeface="Segoe UI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4389120"/>
            <a:ext cx="446227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2F4F5"/>
                </a:solidFill>
                <a:latin typeface="Segoe UI"/>
              </a:rPr>
              <a:t>Lab / POC teams — proof of concept environments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943600"/>
            <a:ext cx="10972800" cy="502920"/>
          </a:xfrm>
          <a:prstGeom prst="roundRect">
            <a:avLst/>
          </a:prstGeom>
          <a:solidFill>
            <a:srgbClr val="005C5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8932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Every team that touches macOS needs reliable, on-demand access — not a shared workaround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Vision: macOS On-Demand for Everyone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A private cloud that puts native Mac VMs at every team's fingertips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9418320" cy="1097280"/>
          </a:xfrm>
          <a:prstGeom prst="round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886968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Extensive adoption of a corporate private cloud to cover
all macOS VM needs — for every team, every use case, on demand.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926080" cy="292608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2926080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007565"/>
                </a:solidFill>
                <a:latin typeface="Segoe UI"/>
              </a:rPr>
              <a:t>🚀  Self-Service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25603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2F4F5"/>
                </a:solidFill>
                <a:latin typeface="Segoe UI"/>
              </a:rPr>
              <a:t>Any authorized user can
spin up a macOS VM
in under a second
from a web portal.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926080"/>
            <a:ext cx="2926080" cy="292608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0" y="2926080"/>
            <a:ext cx="2926080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310896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006DAA"/>
                </a:solidFill>
                <a:latin typeface="Segoe UI"/>
              </a:rPr>
              <a:t>⚡  Native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611880"/>
            <a:ext cx="25603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2F4F5"/>
                </a:solidFill>
                <a:latin typeface="Segoe UI"/>
              </a:rPr>
              <a:t>Apple Silicon M-series
virtualization delivers
full macOS fidelity —
not a Hackintosh.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926080"/>
            <a:ext cx="2926080" cy="292608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926080"/>
            <a:ext cx="29260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3108960"/>
            <a:ext cx="2743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2ECC71"/>
                </a:solidFill>
                <a:latin typeface="Segoe UI"/>
              </a:rPr>
              <a:t>💰  Minimal Investment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611880"/>
            <a:ext cx="25603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2F4F5"/>
                </a:solidFill>
                <a:latin typeface="Segoe UI"/>
              </a:rPr>
              <a:t>Leverages decommissioned
Mac Mini &amp; MacBook Pro
hardware. One-time BSL 1.1
license for production 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43600"/>
            <a:ext cx="10972800" cy="502920"/>
          </a:xfrm>
          <a:prstGeom prst="roundRect">
            <a:avLst/>
          </a:prstGeom>
          <a:solidFill>
            <a:srgbClr val="005C5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FP MAppleLab turns idle hardware into an always-ready macOS lab for the entire organization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Introducing FP MAppleLab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How we deliver on-demand macOS VMs across Forcepoint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2F4F5"/>
                </a:solidFill>
                <a:latin typeface="Segoe UI"/>
              </a:rPr>
              <a:t>FP MAppleLab is a web-based UI and orchestration layer for Apple-native virtualization,
built on top of open-source TART runtime on Apple Silicon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029200" cy="164592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4864" cy="1645920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07565"/>
                </a:solidFill>
                <a:latin typeface="Segoe UI"/>
              </a:rPr>
              <a:t>Software: MAppleLab UI + TART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4663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2F4F5"/>
                </a:solidFill>
                <a:latin typeface="Segoe UI"/>
              </a:rPr>
              <a:t>MAppleLab is the UI and orchestration layer (Flask web portal)
with multi-user auth, VM lifecycle, VNC console, and admin analytics.
TART is the open-source VM runtime providing Apple Virtualization.framework integration.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194560"/>
            <a:ext cx="5029200" cy="164592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94560"/>
            <a:ext cx="54864" cy="1645920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304288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06DAA"/>
                </a:solidFill>
                <a:latin typeface="Segoe UI"/>
              </a:rPr>
              <a:t>Hardware: Decommissioned Macs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670048"/>
            <a:ext cx="4663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2F4F5"/>
                </a:solidFill>
                <a:latin typeface="Segoe UI"/>
              </a:rPr>
              <a:t>Repurposes Forcepoint's existing Mac Mini and MacBook Pro fleet
that were already slated for disposal. M1/M2/M3 Apple Silicon
nodes join the cluster via a simple agent deployment script.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5029200" cy="164592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54864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78808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5A623"/>
                </a:solidFill>
                <a:latin typeface="Segoe UI"/>
              </a:rPr>
              <a:t>Network: Go4Labs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44568"/>
            <a:ext cx="4663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2F4F5"/>
                </a:solidFill>
                <a:latin typeface="Segoe UI"/>
              </a:rPr>
              <a:t>Once running, each macOS VM has internet access and connects
to existing Go4Labs environments via port mapping.
Browser or direct VNC access from anywhere on corporate network.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069080"/>
            <a:ext cx="5029200" cy="164592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4069080"/>
            <a:ext cx="54864" cy="1645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178808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2ECC71"/>
                </a:solidFill>
                <a:latin typeface="Segoe UI"/>
              </a:rPr>
              <a:t>Licensing: Apple + BSL 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544568"/>
            <a:ext cx="4663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F2F4F5"/>
                </a:solidFill>
                <a:latin typeface="Segoe UI"/>
              </a:rPr>
              <a:t>Apple EULA compliant — native Virtualization.framework,
max 2 VMs per physical node. MAppleLab is distributed under
BSL 1.1: source-available, production use requires a one-time license.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10972800" cy="502920"/>
          </a:xfrm>
          <a:prstGeom prst="roundRect">
            <a:avLst/>
          </a:prstGeom>
          <a:solidFill>
            <a:srgbClr val="005C5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8932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FP MAppleLab combines proven open-source tools with existing Forcepoint assets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Key Benefits: Why FP MAppleLab Changes the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Tangible advantages for teams and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06040" cy="107899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06040" cy="36576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6304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565"/>
                </a:solidFill>
                <a:latin typeface="Segoe UI"/>
              </a:rPr>
              <a:t>🌐  Go4Labs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2423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2F4F5"/>
                </a:solidFill>
                <a:latin typeface="Segoe UI"/>
              </a:rPr>
              <a:t>Every VM gets internet access and connectivity to existing lab environments via port mapping. Seamless.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06040" cy="107899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06040" cy="36576"/>
          </a:xfrm>
          <a:prstGeom prst="rect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46304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9E8A"/>
                </a:solidFill>
                <a:latin typeface="Segoe UI"/>
              </a:rPr>
              <a:t>⚡  Instant Startup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783080"/>
            <a:ext cx="2423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2F4F5"/>
                </a:solidFill>
                <a:latin typeface="Segoe UI"/>
              </a:rPr>
              <a:t>VMs launch in under a second. No waiting, no queuing, no tickets. Instant access to the latest macOS.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606040" cy="107899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06040" cy="36576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46304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6DAA"/>
                </a:solidFill>
                <a:latin typeface="Segoe UI"/>
              </a:rPr>
              <a:t>📦  Golden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1783080"/>
            <a:ext cx="2423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2F4F5"/>
                </a:solidFill>
                <a:latin typeface="Segoe UI"/>
              </a:rPr>
              <a:t>Pre-configured VMs with Forcepoint policies, agents, and tools pre-installed. Ready to use out of the box.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371600"/>
            <a:ext cx="2606040" cy="107899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371600"/>
            <a:ext cx="260604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146304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ECC71"/>
                </a:solidFill>
                <a:latin typeface="Segoe UI"/>
              </a:rPr>
              <a:t>💾  Long-Term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1783080"/>
            <a:ext cx="2423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2F4F5"/>
                </a:solidFill>
                <a:latin typeface="Segoe UI"/>
              </a:rPr>
              <a:t>Save, archive, and resume VMs at any time. Work persists across sessions with Docker Registry backing.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633472"/>
            <a:ext cx="2606040" cy="107899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26060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724912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5A623"/>
                </a:solidFill>
                <a:latin typeface="Segoe UI"/>
              </a:rPr>
              <a:t>📈  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044952"/>
            <a:ext cx="2423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2F4F5"/>
                </a:solidFill>
                <a:latin typeface="Segoe UI"/>
              </a:rPr>
              <a:t>Add new nodes in minutes with an install script. Scale the cluster as demand grows.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2633472"/>
            <a:ext cx="2606040" cy="107899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2633472"/>
            <a:ext cx="2606040" cy="36576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7288" y="2724912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7565"/>
                </a:solidFill>
                <a:latin typeface="Segoe UI"/>
              </a:rPr>
              <a:t>⚖️  Fully Licensed &amp; Compliant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044952"/>
            <a:ext cx="2423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2F4F5"/>
                </a:solidFill>
                <a:latin typeface="Segoe UI"/>
              </a:rPr>
              <a:t>Apple EULA compliant (native Virtualization.framework, 2 VMs/node). MAppleLab under BSL 1.1 — one-time production license.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633472"/>
            <a:ext cx="2606040" cy="107899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2633472"/>
            <a:ext cx="2606040" cy="36576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2724912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6DAA"/>
                </a:solidFill>
                <a:latin typeface="Segoe UI"/>
              </a:rPr>
              <a:t>🎯  Native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3044952"/>
            <a:ext cx="2423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2F4F5"/>
                </a:solidFill>
                <a:latin typeface="Segoe UI"/>
              </a:rPr>
              <a:t>M-series silicon virtualization is on par with physical Mac. Not emulation. Full macOS fidelity.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2633472"/>
            <a:ext cx="2606040" cy="107899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9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2633472"/>
            <a:ext cx="2606040" cy="36576"/>
          </a:xfrm>
          <a:prstGeom prst="rect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5128" y="2724912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9E8A"/>
                </a:solidFill>
                <a:latin typeface="Segoe UI"/>
              </a:rPr>
              <a:t>🖥️  Browser &amp; Native VNC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3044952"/>
            <a:ext cx="24231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F2F4F5"/>
                </a:solidFill>
                <a:latin typeface="Segoe UI"/>
              </a:rPr>
              <a:t>Access from any browser via noVNC, or use native macOS Screen Sharing for full-fidelity experience.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943600"/>
            <a:ext cx="10972800" cy="502920"/>
          </a:xfrm>
          <a:prstGeom prst="roundRect">
            <a:avLst/>
          </a:prstGeom>
          <a:solidFill>
            <a:srgbClr val="005C5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8932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FP MAppleLab delivers instant, compliant, native macOS access with minimal infrastructure investment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Platform Capabilities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MAppleLab delivers full VM lifecycle management through a unified web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45720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09E8A"/>
                </a:solidFill>
                <a:latin typeface="Segoe UI"/>
              </a:rPr>
              <a:t>User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Create macOS VMs from curated base images (Sonoma, Sequoia, etc.)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Start / Stop / Delete VMs with one click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Save &amp; Archive VMs to persistent registry storage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Resume archived VMs on any available node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Migrate VMs between nodes seamlessly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Browser-based VNC console (noVNC) — works from any device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Native macOS Screen Sharing (.vncloc download)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Real-time operation progress with stage indicators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Per-user quota management and usage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45720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5A623"/>
                </a:solidFill>
                <a:latin typeface="Segoe UI"/>
              </a:rPr>
              <a:t>Admin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Multi-user management with invite-based onboarding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Role-based access control (Admin / User)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Node fleet management — add, activate, deactivate, drain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Real-time node health monitoring (CPU, RAM, Disk, Slots)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Cross-user operations dashboard for all VMs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Usage analytics — VM lifetime &amp; VNC session tracking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Docker Registry storage management &amp; orphan cleanup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SMTP configuration for automated invite emails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F2F4F5"/>
                </a:solidFill>
                <a:latin typeface="Segoe UI"/>
              </a:rPr>
              <a:t>  ▸  Platform settings and operational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080760"/>
            <a:ext cx="11155680" cy="411480"/>
          </a:xfrm>
          <a:prstGeom prst="roundRect">
            <a:avLst/>
          </a:prstGeom>
          <a:solidFill>
            <a:srgbClr val="005C5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789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Full-featured web portal — from VM creation to admin analytics, all in one place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Dashboard — My VMs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The main user view showing all VMs with status badges, quick actions, and quota usage.
Users see their personal VM inventory with real-time status polling.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291840"/>
            <a:ext cx="886968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8A939B"/>
                </a:solidFill>
                <a:latin typeface="Segoe UI"/>
              </a:rPr>
              <a:t>INSERT SCREENSHOT: My VMs Dashboard (https://192.168.1.195/)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572000"/>
            <a:ext cx="8869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4A545E"/>
                </a:solidFill>
                <a:latin typeface="Segoe UI"/>
              </a:rPr>
              <a:t>(Right-click this area &gt; Change Picture &gt; select your screenshot)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VM Detail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Detailed VM view with operation progress, transfer stages, and console access buttons.
One-click Start, Stop, Save, Resume, Migrate, and Delete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291840"/>
            <a:ext cx="886968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8A939B"/>
                </a:solidFill>
                <a:latin typeface="Segoe UI"/>
              </a:rPr>
              <a:t>INSERT SCREENSHOT: VM Detail page with running 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572000"/>
            <a:ext cx="8869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4A545E"/>
                </a:solidFill>
                <a:latin typeface="Segoe UI"/>
              </a:rPr>
              <a:t>(Right-click this area &gt; Change Picture &gt; select your screenshot)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VNC Console — Browser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Full macOS desktop accessible from any browser via noVNC WebSocket bridge.
Supports bandwidth profiles and works over HTTPS from any 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291840"/>
            <a:ext cx="886968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8A939B"/>
                </a:solidFill>
                <a:latin typeface="Segoe UI"/>
              </a:rPr>
              <a:t>INSERT SCREENSHOT: noVNC console showing macOS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572000"/>
            <a:ext cx="8869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4A545E"/>
                </a:solidFill>
                <a:latin typeface="Segoe UI"/>
              </a:rPr>
              <a:t>(Right-click this area &gt; Change Picture &gt; select your screenshot)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Admin — Nodes &amp;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Fleet management view showing all Mac nodes with live CPU, RAM, disk, and VM slot status.
Add, activate, deactivate, and drain nodes from this panel.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291840"/>
            <a:ext cx="886968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8A939B"/>
                </a:solidFill>
                <a:latin typeface="Segoe UI"/>
              </a:rPr>
              <a:t>INSERT SCREENSHOT: Admin Nodes page with health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572000"/>
            <a:ext cx="8869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4A545E"/>
                </a:solidFill>
                <a:latin typeface="Segoe UI"/>
              </a:rPr>
              <a:t>(Right-click this area &gt; Change Picture &gt; select your screenshot)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Admin — Usage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Cross-user VM and VNC session analytics with lifetime composition bars.
Track how teams use macOS resources across the organization.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291840"/>
            <a:ext cx="886968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8A939B"/>
                </a:solidFill>
                <a:latin typeface="Segoe UI"/>
              </a:rPr>
              <a:t>INSERT SCREENSHOT: Admin Usage page with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572000"/>
            <a:ext cx="8869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4A545E"/>
                </a:solidFill>
                <a:latin typeface="Segoe UI"/>
              </a:rPr>
              <a:t>(Right-click this area &gt; Change Picture &gt; select your screenshot)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Watch FP MAppleLab in action — from VM creation to console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9418320" cy="411480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301752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0" b="1" i="0">
                <a:solidFill>
                  <a:srgbClr val="007565"/>
                </a:solidFill>
                <a:latin typeface="Segoe U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846320"/>
            <a:ext cx="7589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8A939B"/>
                </a:solidFill>
                <a:latin typeface="Segoe UI"/>
              </a:rPr>
              <a:t>INSERT DEMO VIDEO HERE
(Insert &gt; Video &gt; select your recorded demo file)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0972800" cy="502920"/>
          </a:xfrm>
          <a:prstGeom prst="roundRect">
            <a:avLst/>
          </a:prstGeom>
          <a:solidFill>
            <a:srgbClr val="005C5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From zero to macOS desktop in under 10 seconds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How FP MAppleLab integrates with Forcepoint's corporate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286000" cy="27432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07565"/>
                </a:solidFill>
                <a:latin typeface="Segoe UI"/>
              </a:rPr>
              <a:t>Corporate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103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8A939B"/>
                </a:solidFill>
                <a:latin typeface="Segoe UI"/>
              </a:rPr>
              <a:t>(User Browsers)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371600"/>
            <a:ext cx="2743200" cy="41148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6304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06DAA"/>
                </a:solidFill>
                <a:latin typeface="Segoe UI"/>
              </a:rPr>
              <a:t>Manager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9164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8A939B"/>
                </a:solidFill>
                <a:latin typeface="Segoe UI"/>
              </a:rPr>
              <a:t>(MAppleLab UI + Orchestrator)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3474720" cy="41148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07565"/>
                </a:solidFill>
                <a:latin typeface="Segoe UI"/>
              </a:rPr>
              <a:t>Node Fleet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8A939B"/>
                </a:solidFill>
                <a:latin typeface="Segoe UI"/>
              </a:rPr>
              <a:t>(Mac Mini / MBP Cluster)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1371600"/>
            <a:ext cx="1828800" cy="22860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1463040"/>
            <a:ext cx="1645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2ECC71"/>
                </a:solidFill>
                <a:latin typeface="Segoe UI"/>
              </a:rPr>
              <a:t>Shared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69164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8A939B"/>
                </a:solidFill>
                <a:latin typeface="Segoe UI"/>
              </a:rPr>
              <a:t>(Registry + Go4Labs)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057400"/>
            <a:ext cx="1920240" cy="34747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093976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HTTPS Web Portal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514600"/>
            <a:ext cx="1920240" cy="34747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51176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WSS VNC Console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71800"/>
            <a:ext cx="1920240" cy="34747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08376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vnc:// Screen Sharing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2057400"/>
            <a:ext cx="2377440" cy="53035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093976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TLS Reverse Proxy
(Caddy/nginx)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2697480"/>
            <a:ext cx="2377440" cy="53035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2734056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Flask + Gunicorn
Web Application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337560"/>
            <a:ext cx="2377440" cy="53035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374136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WebSocket VNC Bridge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3977640"/>
            <a:ext cx="2377440" cy="53035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4014216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Direct TCP Proxy
(57000-57099)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057400"/>
            <a:ext cx="3108960" cy="53035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093976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TART Agent (:7000)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2697480"/>
            <a:ext cx="3108960" cy="53035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734056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TART Runtime (VM)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337560"/>
            <a:ext cx="3108960" cy="53035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374136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websockify VNC (:5900+)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977640"/>
            <a:ext cx="3108960" cy="53035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014216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Local VM Disk Storage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04120" y="2057400"/>
            <a:ext cx="1554480" cy="53035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2093976"/>
            <a:ext cx="1417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Docker Registry
(:5001)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2697480"/>
            <a:ext cx="1554480" cy="530352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2734056"/>
            <a:ext cx="1417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F2F4F5"/>
                </a:solidFill>
                <a:latin typeface="Segoe UI"/>
              </a:rPr>
              <a:t>Go4Labs Env
(port mapping)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303520"/>
            <a:ext cx="182880" cy="109728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285232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HTTPS — user access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5303520"/>
            <a:ext cx="182880" cy="109728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47872" y="5285232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HTTPS — management API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5303520"/>
            <a:ext cx="182880" cy="109728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5285232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WSS/TCP — VNC console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0" y="5303520"/>
            <a:ext cx="18288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34272" y="5285232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OCI — VM artefacts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943600"/>
            <a:ext cx="11155680" cy="502920"/>
          </a:xfrm>
          <a:prstGeom prst="roundRect">
            <a:avLst/>
          </a:prstGeom>
          <a:solidFill>
            <a:srgbClr val="005C5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989320"/>
            <a:ext cx="10789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Seamless corporate network integration with TLS, VNC, and Go4Labs connectivity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Software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Modular Flask application with agent-based node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6858000" cy="347472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858000" cy="320040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D252C"/>
                </a:solidFill>
                <a:latin typeface="Segoe UI"/>
              </a:rPr>
              <a:t>MANAGER — MAppleLab UI &amp; Orchestrator (Flask + Gunicorn)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261872" cy="566928"/>
          </a:xfrm>
          <a:prstGeom prst="roundRect">
            <a:avLst/>
          </a:prstGeom>
          <a:solidFill>
            <a:srgbClr val="007565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56232"/>
            <a:ext cx="1170432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Auth &amp; 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1828800"/>
            <a:ext cx="1261872" cy="566928"/>
          </a:xfrm>
          <a:prstGeom prst="roundRect">
            <a:avLst/>
          </a:prstGeom>
          <a:solidFill>
            <a:srgbClr val="006DAA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856232"/>
            <a:ext cx="1170432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VM Lifecycle
Orchestrator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828800"/>
            <a:ext cx="1261872" cy="566928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856232"/>
            <a:ext cx="1170432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Admin Module
User &amp; Node Mgmt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828800"/>
            <a:ext cx="1261872" cy="566928"/>
          </a:xfrm>
          <a:prstGeom prst="roundRect">
            <a:avLst/>
          </a:prstGeom>
          <a:solidFill>
            <a:srgbClr val="006DAA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856232"/>
            <a:ext cx="1170432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REST / HTMX
API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828800"/>
            <a:ext cx="1261872" cy="566928"/>
          </a:xfrm>
          <a:prstGeom prst="roundRect">
            <a:avLst/>
          </a:prstGeom>
          <a:solidFill>
            <a:srgbClr val="007565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56232"/>
            <a:ext cx="1170432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Node Scheduler
&amp; Health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505456"/>
            <a:ext cx="1261872" cy="566928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32888"/>
            <a:ext cx="1170432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Registry Inventory
&amp; Cleanup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2505456"/>
            <a:ext cx="1261872" cy="566928"/>
          </a:xfrm>
          <a:prstGeom prst="roundRect">
            <a:avLst/>
          </a:prstGeom>
          <a:solidFill>
            <a:srgbClr val="E84D3D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2532888"/>
            <a:ext cx="1170432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VNC WebSocket
Bridge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505456"/>
            <a:ext cx="1261872" cy="566928"/>
          </a:xfrm>
          <a:prstGeom prst="roundRect">
            <a:avLst/>
          </a:prstGeom>
          <a:solidFill>
            <a:srgbClr val="E84D3D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2532888"/>
            <a:ext cx="1170432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SSH Tunnel
Manager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2505456"/>
            <a:ext cx="1261872" cy="566928"/>
          </a:xfrm>
          <a:prstGeom prst="roundRect">
            <a:avLst/>
          </a:prstGeom>
          <a:solidFill>
            <a:srgbClr val="E84D3D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2532888"/>
            <a:ext cx="1170432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Direct TCP
Proxy (.vncloc)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2505456"/>
            <a:ext cx="1261872" cy="566928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532888"/>
            <a:ext cx="1170432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Usage Telemetry
&amp;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480560"/>
            <a:ext cx="6583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8A939B"/>
                </a:solidFill>
                <a:latin typeface="Segoe UI"/>
              </a:rPr>
              <a:t>Python 3.10+  |  Flask-SQLAlchemy  |  Paramiko SSH  |  websockify  |  noVNC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1371600"/>
            <a:ext cx="3931920" cy="9144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60" y="1371600"/>
            <a:ext cx="54864" cy="914400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1444752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06DAA"/>
                </a:solidFill>
                <a:latin typeface="Segoe UI"/>
              </a:rPr>
              <a:t>Portal Database (SQLite)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1719072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Users, VMs, Nodes, Settings,
Status Events, VNC Sessions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2468880"/>
            <a:ext cx="3931920" cy="9144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80960" y="2468880"/>
            <a:ext cx="54864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2542032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2ECC71"/>
                </a:solidFill>
                <a:latin typeface="Segoe UI"/>
              </a:rPr>
              <a:t>Docker Registry (OCI)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2816352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Archived VM images,
Migration staging, Quota accounting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3566160"/>
            <a:ext cx="3931920" cy="9144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8A9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0" y="3566160"/>
            <a:ext cx="54864" cy="914400"/>
          </a:xfrm>
          <a:prstGeom prst="rect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3639312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8A939B"/>
                </a:solidFill>
                <a:latin typeface="Segoe UI"/>
              </a:rPr>
              <a:t>Application Logs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913632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File-based operational logging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074920"/>
            <a:ext cx="6858000" cy="118872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074920"/>
            <a:ext cx="6858000" cy="274320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093208"/>
            <a:ext cx="6492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1D252C"/>
                </a:solidFill>
                <a:latin typeface="Segoe UI"/>
              </a:rPr>
              <a:t>CLIENT NODE FLEET (x N)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440680"/>
            <a:ext cx="1261872" cy="658368"/>
          </a:xfrm>
          <a:prstGeom prst="roundRect">
            <a:avLst/>
          </a:prstGeom>
          <a:solidFill>
            <a:srgbClr val="007565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477256"/>
            <a:ext cx="1170432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TART Agent
(HTTP :7000)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011680" y="5440680"/>
            <a:ext cx="1261872" cy="658368"/>
          </a:xfrm>
          <a:prstGeom prst="roundRect">
            <a:avLst/>
          </a:prstGeom>
          <a:solidFill>
            <a:srgbClr val="007565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5477256"/>
            <a:ext cx="1170432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TART Runtime
(tart CLI)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83280" y="5440680"/>
            <a:ext cx="1261872" cy="65836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29000" y="5477256"/>
            <a:ext cx="1170432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F2F4F5"/>
                </a:solidFill>
                <a:latin typeface="Segoe UI"/>
              </a:rPr>
              <a:t>Local VM
Storage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54880" y="5440680"/>
            <a:ext cx="1261872" cy="658368"/>
          </a:xfrm>
          <a:prstGeom prst="roundRect">
            <a:avLst/>
          </a:prstGeom>
          <a:solidFill>
            <a:srgbClr val="E84D3D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0600" y="5477256"/>
            <a:ext cx="1170432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websockify
VNC Bridge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26480" y="5440680"/>
            <a:ext cx="1261872" cy="658368"/>
          </a:xfrm>
          <a:prstGeom prst="roundRect">
            <a:avLst/>
          </a:prstGeom>
          <a:solidFill>
            <a:srgbClr val="E84D3D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5477256"/>
            <a:ext cx="1170432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VM VNC
(:5900)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6355080"/>
            <a:ext cx="11155680" cy="182880"/>
          </a:xfrm>
          <a:prstGeom prst="roundRect">
            <a:avLst/>
          </a:prstGeom>
          <a:solidFill>
            <a:srgbClr val="005C5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6355080"/>
            <a:ext cx="107899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Modular, extensible architecture — each component independently testable and replaceable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Hardware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Repurposed Apple Silicon devices form a scalable private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32004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320040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D252C"/>
                </a:solidFill>
                <a:latin typeface="Segoe UI"/>
              </a:rPr>
              <a:t>MANAGER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1089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F2F4F5"/>
                </a:solidFill>
                <a:latin typeface="Segoe UI"/>
              </a:rPr>
              <a:t>  ▸  Mac Mini (M1/M2) or MacBook Pro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F2F4F5"/>
                </a:solidFill>
                <a:latin typeface="Segoe UI"/>
              </a:rPr>
              <a:t>  ▸  macOS Sonoma / Sequoia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F2F4F5"/>
                </a:solidFill>
                <a:latin typeface="Segoe UI"/>
              </a:rPr>
              <a:t>  ▸  MAppleLab UI &amp; Orchestrator (Flask)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F2F4F5"/>
                </a:solidFill>
                <a:latin typeface="Segoe UI"/>
              </a:rPr>
              <a:t>  ▸  TLS Reverse Proxy (Caddy)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F2F4F5"/>
                </a:solidFill>
                <a:latin typeface="Segoe UI"/>
              </a:rPr>
              <a:t>  ▸  Docker Registry (:5001)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F2F4F5"/>
                </a:solidFill>
                <a:latin typeface="Segoe UI"/>
              </a:rPr>
              <a:t>  ▸  SQLite Database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F2F4F5"/>
                </a:solidFill>
                <a:latin typeface="Segoe UI"/>
              </a:rPr>
              <a:t>  ▸  SSH key access to all nodes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7406640" cy="32004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7406640" cy="320040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89888"/>
            <a:ext cx="7223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D252C"/>
                </a:solidFill>
                <a:latin typeface="Segoe UI"/>
              </a:rPr>
              <a:t>CLIENT NODE FLEET (Expandable)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28800"/>
            <a:ext cx="2148840" cy="2560320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19"/>
            <a:ext cx="1965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09E8A"/>
                </a:solidFill>
                <a:latin typeface="Segoe UI"/>
              </a:rPr>
              <a:t>Node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94560"/>
            <a:ext cx="1874519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Mac Mini M1/M2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8-16 GB RAM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256+ GB SSD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macOS + TART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TART Agent (:7000)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Max 2 VMs (EULA)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828800"/>
            <a:ext cx="2148840" cy="2560320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874519"/>
            <a:ext cx="1965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09E8A"/>
                </a:solidFill>
                <a:latin typeface="Segoe UI"/>
              </a:rPr>
              <a:t>Node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194560"/>
            <a:ext cx="1874519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Mac Mini M1/M2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8-16 GB RAM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256+ GB SSD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macOS + TART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TART Agent (:7000)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Max 2 VMs (EULA)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28800"/>
            <a:ext cx="2148840" cy="2560320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3A4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74519"/>
            <a:ext cx="1965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09E8A"/>
                </a:solidFill>
                <a:latin typeface="Segoe UI"/>
              </a:rPr>
              <a:t>Node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94560"/>
            <a:ext cx="1874519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Mac Mini M1/M2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8-16 GB RAM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256+ GB SSD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macOS + TART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TART Agent (:7000)</a:t>
            </a:r>
          </a:p>
          <a:p>
            <a:pPr algn="l">
              <a:spcAft>
                <a:spcPts val="300"/>
              </a:spcAft>
            </a:pPr>
            <a:r>
              <a:rPr sz="900">
                <a:solidFill>
                  <a:srgbClr val="F2F4F5"/>
                </a:solidFill>
                <a:latin typeface="Segoe UI"/>
              </a:rPr>
              <a:t>  ▸  Max 2 VMs (EULA)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2560320"/>
            <a:ext cx="914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007565"/>
                </a:solidFill>
                <a:latin typeface="Segoe UI"/>
              </a:rPr>
              <a:t>+N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2918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8A939B"/>
                </a:solidFill>
                <a:latin typeface="Segoe UI"/>
              </a:rPr>
              <a:t>Scale as needed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11155680" cy="82296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846320"/>
            <a:ext cx="54864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2ECC71"/>
                </a:solidFill>
                <a:latin typeface="Segoe UI"/>
              </a:rPr>
              <a:t>Apple EULA Compliance: 2 VMs per physical macOS host  |  Apple Virtualization.framework  |  No Hackintosh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10607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F2F4F5"/>
                </a:solidFill>
                <a:latin typeface="Segoe UI"/>
              </a:rPr>
              <a:t>Core hardware sourced from Forcepoint's decommissioned Mac inventory — minimal accessories investment (e.g. Thunderbolt-to-RJ45 adapters)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1155680" cy="502920"/>
          </a:xfrm>
          <a:prstGeom prst="roundRect">
            <a:avLst/>
          </a:prstGeom>
          <a:solidFill>
            <a:srgbClr val="005C5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10789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Recycled hardware, enterprise-grade capability — FP MAppleLab maximizes asset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Technology Stack &amp; Bill of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Major components powering FP MAppleLab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148840" cy="320040"/>
          </a:xfrm>
          <a:prstGeom prst="round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08176"/>
            <a:ext cx="1965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D252C"/>
                </a:solidFill>
                <a:latin typeface="Segoe UI"/>
              </a:rPr>
              <a:t>Core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83080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19656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7565"/>
                </a:solidFill>
                <a:latin typeface="Segoe UI"/>
              </a:rPr>
              <a:t>macOS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Host OS (manager + nodes)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441448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78024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7565"/>
                </a:solidFill>
                <a:latin typeface="Segoe UI"/>
              </a:rPr>
              <a:t>Python 3.10+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15768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Runtime for Flask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099816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36392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7565"/>
                </a:solidFill>
                <a:latin typeface="Segoe UI"/>
              </a:rPr>
              <a:t>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74136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Web application framework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58184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94760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7565"/>
                </a:solidFill>
                <a:latin typeface="Segoe UI"/>
              </a:rPr>
              <a:t>Flask-SQLAlchemy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32504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ORM / data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416552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53128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7565"/>
                </a:solidFill>
                <a:latin typeface="Segoe UI"/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90872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Application 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1371600"/>
            <a:ext cx="2148840" cy="320040"/>
          </a:xfrm>
          <a:prstGeom prst="round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1408176"/>
            <a:ext cx="1965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D252C"/>
                </a:solidFill>
                <a:latin typeface="Segoe UI"/>
              </a:rPr>
              <a:t>VM &amp; Orchestration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1783080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1819656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6DAA"/>
                </a:solidFill>
                <a:latin typeface="Segoe UI"/>
              </a:rPr>
              <a:t>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057400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VM runtime (Cirrus Labs)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2441448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2478024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6DAA"/>
                </a:solidFill>
                <a:latin typeface="Segoe UI"/>
              </a:rPr>
              <a:t>tart_agent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15768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Node-side API 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60" y="3099816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136392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6DAA"/>
                </a:solidFill>
                <a:latin typeface="Segoe UI"/>
              </a:rPr>
              <a:t>Paramiko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374136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SSH transport / tunnels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51760" y="3758184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3794760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006DAA"/>
                </a:solidFill>
                <a:latin typeface="Segoe UI"/>
              </a:rPr>
              <a:t>Flask-Sock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032504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WebSocket VNC bridge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1371600"/>
            <a:ext cx="214884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1408176"/>
            <a:ext cx="1965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D252C"/>
                </a:solidFill>
                <a:latin typeface="Segoe UI"/>
              </a:rPr>
              <a:t>Registry &amp; Storage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0" y="1783080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1819656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ECC71"/>
                </a:solidFill>
                <a:latin typeface="Segoe UI"/>
              </a:rPr>
              <a:t>Docker CLI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2057400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Container management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0" y="2441448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2478024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ECC71"/>
                </a:solidFill>
                <a:latin typeface="Segoe UI"/>
              </a:rPr>
              <a:t>Colima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2715768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Docker engine on macOS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37760" y="3099816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3136392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2ECC71"/>
                </a:solidFill>
                <a:latin typeface="Segoe UI"/>
              </a:rPr>
              <a:t>Registry:2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3374136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VM image archive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23760" y="1371600"/>
            <a:ext cx="2148840" cy="3200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1408176"/>
            <a:ext cx="1965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D252C"/>
                </a:solidFill>
                <a:latin typeface="Segoe UI"/>
              </a:rPr>
              <a:t>Network &amp; Access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23760" y="1783080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1819656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F5A623"/>
                </a:solidFill>
                <a:latin typeface="Segoe UI"/>
              </a:rPr>
              <a:t>OpenSSH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2057400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Key auth &amp; remote exec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2441448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2478024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F5A623"/>
                </a:solidFill>
                <a:latin typeface="Segoe UI"/>
              </a:rPr>
              <a:t>noVNC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2715768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Browser VNC client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23760" y="3099816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0" y="3136392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F5A623"/>
                </a:solidFill>
                <a:latin typeface="Segoe UI"/>
              </a:rPr>
              <a:t>websockify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3374136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WS-TCP VNC bridge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23760" y="3758184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0" y="3794760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F5A623"/>
                </a:solidFill>
                <a:latin typeface="Segoe UI"/>
              </a:rPr>
              <a:t>Caddy/nginx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4032504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TLS reverse proxy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09760" y="1371600"/>
            <a:ext cx="2148840" cy="320040"/>
          </a:xfrm>
          <a:prstGeom prst="round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0" y="1408176"/>
            <a:ext cx="1965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1D252C"/>
                </a:solidFill>
                <a:latin typeface="Segoe UI"/>
              </a:rPr>
              <a:t>Security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09760" y="1783080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E84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0" y="1819656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84D3D"/>
                </a:solidFill>
                <a:latin typeface="Segoe UI"/>
              </a:rPr>
              <a:t>Flask-Login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2057400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Session auth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09760" y="2441448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E84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01200" y="2478024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84D3D"/>
                </a:solidFill>
                <a:latin typeface="Segoe UI"/>
              </a:rPr>
              <a:t>Flask-Bcrypt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1200" y="2715768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Password hashing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509760" y="3099816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E84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01200" y="3136392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84D3D"/>
                </a:solidFill>
                <a:latin typeface="Segoe UI"/>
              </a:rPr>
              <a:t>AGENT_TOKEN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3374136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Node API auth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509760" y="3758184"/>
            <a:ext cx="2148840" cy="566928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E84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01200" y="3794760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84D3D"/>
                </a:solidFill>
                <a:latin typeface="Segoe UI"/>
              </a:rPr>
              <a:t>SECRET_KEY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01200" y="4032504"/>
            <a:ext cx="1965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2F4F5"/>
                </a:solidFill>
                <a:latin typeface="Segoe UI"/>
              </a:rPr>
              <a:t>Session signing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5760" y="5943600"/>
            <a:ext cx="11338560" cy="502920"/>
          </a:xfrm>
          <a:prstGeom prst="roundRect">
            <a:avLst/>
          </a:prstGeom>
          <a:solidFill>
            <a:srgbClr val="005C5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Open-source foundations  |  BSL 1.1 licensed  |  One-time license grants full production use and modification rights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Reference: Environment 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End-to-end user journey — from browser to VM console and archived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457200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0" i="0">
                <a:solidFill>
                  <a:srgbClr val="8A939B"/>
                </a:solidFill>
                <a:latin typeface="Segoe UI"/>
              </a:rPr>
              <a:t>EMBED DIAGRAM FROM:
/docs/schemas/pr/1_environment_architecture_user_experience.pptx
(Copy the diagram slide from this file, or regenerate using generate_diagrams.py)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Reference: Technical 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Internal modules, data stores, and protocol-level communication channels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457200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0" i="0">
                <a:solidFill>
                  <a:srgbClr val="8A939B"/>
                </a:solidFill>
                <a:latin typeface="Segoe UI"/>
              </a:rPr>
              <a:t>EMBED DIAGRAM FROM:
/docs/schemas/pr/2_technical_architecture_modules_and_channels.pptx
(Copy the diagram slide from this file, or regenerate using generate_diagrams.py)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Reference: Portal Structure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Component hierarchy, user-facing features, and admin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4572000"/>
          </a:xfrm>
          <a:prstGeom prst="roundRect">
            <a:avLst/>
          </a:prstGeom>
          <a:solidFill>
            <a:srgbClr val="12192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0" i="0">
                <a:solidFill>
                  <a:srgbClr val="8A939B"/>
                </a:solidFill>
                <a:latin typeface="Segoe UI"/>
              </a:rPr>
              <a:t>EMBED DIAGRAM FROM:
/docs/schemas/pr/3_portal_structure_components_and_functions.pptx
(Copy the diagram slide from this file, or regenerate using generate_diagrams.py)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Next Steps: Scaling FP MAppleLab Across Forcepoint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009E8A"/>
                </a:solidFill>
                <a:latin typeface="Segoe UI"/>
              </a:rPr>
              <a:t>From pilot to production — a clear path forward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560320" cy="27432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554480"/>
            <a:ext cx="502920" cy="502920"/>
          </a:xfrm>
          <a:prstGeom prst="ellipse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5544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1D252C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07565"/>
                </a:solidFill>
                <a:latin typeface="Segoe UI"/>
              </a:rPr>
              <a:t>Pilot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F2F4F5"/>
                </a:solidFill>
                <a:latin typeface="Segoe UI"/>
              </a:rPr>
              <a:t>Current deployment proves concept with real
users across TS, PS, and engineering teams.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703320"/>
            <a:ext cx="1097280" cy="25603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03320"/>
            <a:ext cx="10972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COMPLETE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371600"/>
            <a:ext cx="2560320" cy="27432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6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371600"/>
            <a:ext cx="2560320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06240" y="1554480"/>
            <a:ext cx="502920" cy="502920"/>
          </a:xfrm>
          <a:prstGeom prst="ellipse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5544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1D252C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1488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06DAA"/>
                </a:solidFill>
                <a:latin typeface="Segoe UI"/>
              </a:rPr>
              <a:t>Hardware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51460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F2F4F5"/>
                </a:solidFill>
                <a:latin typeface="Segoe UI"/>
              </a:rPr>
              <a:t>Identify and collect decommissioned Mac Mini
and MacBook Pro units from IT inventory.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3703320"/>
            <a:ext cx="1097280" cy="25603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3703320"/>
            <a:ext cx="10972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IN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371600"/>
            <a:ext cx="2560320" cy="27432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371600"/>
            <a:ext cx="25603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49440" y="155448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5544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1D252C"/>
                </a:solidFill>
                <a:latin typeface="Segoe U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1488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5A623"/>
                </a:solidFill>
                <a:latin typeface="Segoe UI"/>
              </a:rPr>
              <a:t>Cluster Expansion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51460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F2F4F5"/>
                </a:solidFill>
                <a:latin typeface="Segoe UI"/>
              </a:rPr>
              <a:t>Deploy TART agent on collected hardware.
Add nodes to the cluster via install script.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703320"/>
            <a:ext cx="1097280" cy="256032"/>
          </a:xfrm>
          <a:prstGeom prst="round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703320"/>
            <a:ext cx="10972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NEXT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371600"/>
            <a:ext cx="2560320" cy="274320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0" y="137160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92640" y="1554480"/>
            <a:ext cx="502920" cy="5029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15544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 i="0">
                <a:solidFill>
                  <a:srgbClr val="1D252C"/>
                </a:solidFill>
                <a:latin typeface="Segoe U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1488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2ECC71"/>
                </a:solidFill>
                <a:latin typeface="Segoe UI"/>
              </a:rPr>
              <a:t>Organization Rollout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251460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F2F4F5"/>
                </a:solidFill>
                <a:latin typeface="Segoe UI"/>
              </a:rPr>
              <a:t>Onboard remaining teams. Configure golden
images with standard Forcepoint policies.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3703320"/>
            <a:ext cx="1097280" cy="256032"/>
          </a:xfrm>
          <a:prstGeom prst="roundRect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3703320"/>
            <a:ext cx="10972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D252C"/>
                </a:solidFill>
                <a:latin typeface="Segoe UI"/>
              </a:rPr>
              <a:t>PLANNED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389120"/>
            <a:ext cx="11155680" cy="1280160"/>
          </a:xfrm>
          <a:prstGeom prst="roundRect">
            <a:avLst/>
          </a:prstGeom>
          <a:solidFill>
            <a:srgbClr val="242F39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389120"/>
            <a:ext cx="11155680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52628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E8A"/>
                </a:solidFill>
                <a:latin typeface="Segoe UI"/>
              </a:rPr>
              <a:t>What We Need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937760"/>
            <a:ext cx="10607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4F5"/>
                </a:solidFill>
                <a:latin typeface="Segoe UI"/>
              </a:rPr>
              <a:t>▸  Approval to proceed with hardware collection from IT decommission inventory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4F5"/>
                </a:solidFill>
                <a:latin typeface="Segoe UI"/>
              </a:rPr>
              <a:t>▸  Coordination with Go4Labs team for network port mapping integration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4F5"/>
                </a:solidFill>
                <a:latin typeface="Segoe UI"/>
              </a:rPr>
              <a:t>▸  Stakeholder buy-in from team leads for onboarding and golden image requirements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43600"/>
            <a:ext cx="11155680" cy="502920"/>
          </a:xfrm>
          <a:prstGeom prst="roundRect">
            <a:avLst/>
          </a:prstGeom>
          <a:solidFill>
            <a:srgbClr val="005C50"/>
          </a:solidFill>
          <a:ln w="12700">
            <a:solidFill>
              <a:srgbClr val="007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989320"/>
            <a:ext cx="10789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FP MAppleLab is ready to scale — let's bring native macOS access to every team that needs 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009E8A"/>
                </a:solidFill>
                <a:latin typeface="Segoe UI"/>
              </a:rPr>
              <a:t>FP MAppleLab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On-Demand macOS. Native Performance. Minimal Investment.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657600"/>
            <a:ext cx="7315200" cy="19050"/>
          </a:xfrm>
          <a:prstGeom prst="rect">
            <a:avLst/>
          </a:prstGeom>
          <a:solidFill>
            <a:srgbClr val="007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8A939B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0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FORCEPOINT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